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1"/>
  </p:notesMasterIdLst>
  <p:sldIdLst>
    <p:sldId id="256" r:id="rId2"/>
    <p:sldId id="257" r:id="rId3"/>
    <p:sldId id="258" r:id="rId4"/>
    <p:sldId id="259" r:id="rId5"/>
    <p:sldId id="260" r:id="rId6"/>
    <p:sldId id="263" r:id="rId7"/>
    <p:sldId id="262" r:id="rId8"/>
    <p:sldId id="265"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6" d="100"/>
          <a:sy n="96" d="100"/>
        </p:scale>
        <p:origin x="106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419091-6CD7-4637-857D-F7CBAA04317F}" type="datetimeFigureOut">
              <a:rPr lang="en-US" smtClean="0"/>
              <a:t>2/19/2026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D1F62A-CCAB-434E-91E2-A12BF73B59DF}" type="slidenum">
              <a:rPr lang="en-US" smtClean="0"/>
              <a:t>‹#›</a:t>
            </a:fld>
            <a:endParaRPr lang="en-US"/>
          </a:p>
        </p:txBody>
      </p:sp>
    </p:spTree>
    <p:extLst>
      <p:ext uri="{BB962C8B-B14F-4D97-AF65-F5344CB8AC3E}">
        <p14:creationId xmlns:p14="http://schemas.microsoft.com/office/powerpoint/2010/main" val="27383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FC0E99-574D-447A-8293-AE90F14D78CA}" type="datetime1">
              <a:rPr lang="en-US" smtClean="0"/>
              <a:t>2/19/2026</a:t>
            </a:fld>
            <a:endParaRPr lang="en-US"/>
          </a:p>
        </p:txBody>
      </p:sp>
      <p:sp>
        <p:nvSpPr>
          <p:cNvPr id="5" name="Footer Placeholder 4"/>
          <p:cNvSpPr>
            <a:spLocks noGrp="1"/>
          </p:cNvSpPr>
          <p:nvPr>
            <p:ph type="ftr" sz="quarter" idx="11"/>
          </p:nvPr>
        </p:nvSpPr>
        <p:spPr/>
        <p:txBody>
          <a:bodyPr/>
          <a:lstStyle/>
          <a:p>
            <a:r>
              <a:rPr lang="en-US"/>
              <a:t>CGB1221-DATABASE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246005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F87993-4448-4D26-9DAD-135F19D57E95}" type="datetime1">
              <a:rPr lang="en-US" smtClean="0"/>
              <a:t>2/19/2026</a:t>
            </a:fld>
            <a:endParaRPr lang="en-US"/>
          </a:p>
        </p:txBody>
      </p:sp>
      <p:sp>
        <p:nvSpPr>
          <p:cNvPr id="5" name="Footer Placeholder 4"/>
          <p:cNvSpPr>
            <a:spLocks noGrp="1"/>
          </p:cNvSpPr>
          <p:nvPr>
            <p:ph type="ftr" sz="quarter" idx="11"/>
          </p:nvPr>
        </p:nvSpPr>
        <p:spPr/>
        <p:txBody>
          <a:bodyPr/>
          <a:lstStyle/>
          <a:p>
            <a:r>
              <a:rPr lang="en-US"/>
              <a:t>CGB1221-DATABASE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700654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A7CF6-F6BC-46C2-9C7D-8D30DDA7C24D}" type="datetime1">
              <a:rPr lang="en-US" smtClean="0"/>
              <a:t>2/19/2026</a:t>
            </a:fld>
            <a:endParaRPr lang="en-US"/>
          </a:p>
        </p:txBody>
      </p:sp>
      <p:sp>
        <p:nvSpPr>
          <p:cNvPr id="5" name="Footer Placeholder 4"/>
          <p:cNvSpPr>
            <a:spLocks noGrp="1"/>
          </p:cNvSpPr>
          <p:nvPr>
            <p:ph type="ftr" sz="quarter" idx="11"/>
          </p:nvPr>
        </p:nvSpPr>
        <p:spPr/>
        <p:txBody>
          <a:bodyPr/>
          <a:lstStyle/>
          <a:p>
            <a:r>
              <a:rPr lang="en-US"/>
              <a:t>CGB1221-DATABASE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3771800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EA8E4F-E100-48D8-AB63-10FCA2FA2C8A}" type="datetime1">
              <a:rPr lang="en-US" smtClean="0"/>
              <a:t>2/19/2026</a:t>
            </a:fld>
            <a:endParaRPr lang="en-US"/>
          </a:p>
        </p:txBody>
      </p:sp>
      <p:sp>
        <p:nvSpPr>
          <p:cNvPr id="6" name="Footer Placeholder 5"/>
          <p:cNvSpPr>
            <a:spLocks noGrp="1"/>
          </p:cNvSpPr>
          <p:nvPr>
            <p:ph type="ftr" sz="quarter" idx="11"/>
          </p:nvPr>
        </p:nvSpPr>
        <p:spPr/>
        <p:txBody>
          <a:bodyPr/>
          <a:lstStyle/>
          <a:p>
            <a:r>
              <a:rPr lang="en-US"/>
              <a:t>CGB1221-DATABASE MANAGEMENT SYSTEMS  PROJECT REVIEW 0</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4151500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B7D26E0-EF08-4863-A1A5-837883A2DA90}" type="datetime1">
              <a:rPr lang="en-US" smtClean="0"/>
              <a:t>2/19/2026</a:t>
            </a:fld>
            <a:endParaRPr lang="en-US"/>
          </a:p>
        </p:txBody>
      </p:sp>
      <p:sp>
        <p:nvSpPr>
          <p:cNvPr id="8" name="Footer Placeholder 7"/>
          <p:cNvSpPr>
            <a:spLocks noGrp="1"/>
          </p:cNvSpPr>
          <p:nvPr>
            <p:ph type="ftr" sz="quarter" idx="11"/>
          </p:nvPr>
        </p:nvSpPr>
        <p:spPr/>
        <p:txBody>
          <a:bodyPr/>
          <a:lstStyle/>
          <a:p>
            <a:r>
              <a:rPr lang="en-US"/>
              <a:t>CGB1221-DATABASE MANAGEMENT SYSTEMS  PROJECT REVIEW 0</a:t>
            </a:r>
          </a:p>
        </p:txBody>
      </p:sp>
      <p:sp>
        <p:nvSpPr>
          <p:cNvPr id="9" name="Slide Number Placeholder 8"/>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2819297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3C2E23-8ECE-4706-9204-44C649D7FBEA}" type="datetime1">
              <a:rPr lang="en-US" smtClean="0"/>
              <a:t>2/19/2026</a:t>
            </a:fld>
            <a:endParaRPr lang="en-US"/>
          </a:p>
        </p:txBody>
      </p:sp>
      <p:sp>
        <p:nvSpPr>
          <p:cNvPr id="4" name="Footer Placeholder 3"/>
          <p:cNvSpPr>
            <a:spLocks noGrp="1"/>
          </p:cNvSpPr>
          <p:nvPr>
            <p:ph type="ftr" sz="quarter" idx="11"/>
          </p:nvPr>
        </p:nvSpPr>
        <p:spPr/>
        <p:txBody>
          <a:bodyPr/>
          <a:lstStyle/>
          <a:p>
            <a:r>
              <a:rPr lang="en-US"/>
              <a:t>CGB1221-DATABASE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3527711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05E9B2-B0E8-4B0A-B581-DA25C2C5535E}" type="datetime1">
              <a:rPr lang="en-US" smtClean="0"/>
              <a:t>2/19/2026</a:t>
            </a:fld>
            <a:endParaRPr lang="en-US"/>
          </a:p>
        </p:txBody>
      </p:sp>
      <p:sp>
        <p:nvSpPr>
          <p:cNvPr id="3" name="Footer Placeholder 2"/>
          <p:cNvSpPr>
            <a:spLocks noGrp="1"/>
          </p:cNvSpPr>
          <p:nvPr>
            <p:ph type="ftr" sz="quarter" idx="11"/>
          </p:nvPr>
        </p:nvSpPr>
        <p:spPr/>
        <p:txBody>
          <a:bodyPr/>
          <a:lstStyle/>
          <a:p>
            <a:r>
              <a:rPr lang="en-US"/>
              <a:t>CGB1221-DATABASE MANAGEMENT SYSTEMS  PROJECT REVIEW 0</a:t>
            </a:r>
          </a:p>
        </p:txBody>
      </p:sp>
      <p:sp>
        <p:nvSpPr>
          <p:cNvPr id="4" name="Slide Number Placeholder 3"/>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247723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504A85-8136-4D99-BEB8-543258D4E2ED}" type="datetime1">
              <a:rPr lang="en-US" smtClean="0"/>
              <a:t>2/19/2026</a:t>
            </a:fld>
            <a:endParaRPr lang="en-US"/>
          </a:p>
        </p:txBody>
      </p:sp>
      <p:sp>
        <p:nvSpPr>
          <p:cNvPr id="6" name="Footer Placeholder 5"/>
          <p:cNvSpPr>
            <a:spLocks noGrp="1"/>
          </p:cNvSpPr>
          <p:nvPr>
            <p:ph type="ftr" sz="quarter" idx="11"/>
          </p:nvPr>
        </p:nvSpPr>
        <p:spPr/>
        <p:txBody>
          <a:bodyPr/>
          <a:lstStyle/>
          <a:p>
            <a:r>
              <a:rPr lang="en-US"/>
              <a:t>CGB1221-DATABASE MANAGEMENT SYSTEMS  PROJECT REVIEW 0</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1653146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E48638-1298-4115-A7C0-7B37FEC6BCBB}" type="datetime1">
              <a:rPr lang="en-US" smtClean="0"/>
              <a:t>2/19/2026</a:t>
            </a:fld>
            <a:endParaRPr lang="en-US"/>
          </a:p>
        </p:txBody>
      </p:sp>
      <p:sp>
        <p:nvSpPr>
          <p:cNvPr id="6" name="Footer Placeholder 5"/>
          <p:cNvSpPr>
            <a:spLocks noGrp="1"/>
          </p:cNvSpPr>
          <p:nvPr>
            <p:ph type="ftr" sz="quarter" idx="11"/>
          </p:nvPr>
        </p:nvSpPr>
        <p:spPr/>
        <p:txBody>
          <a:bodyPr/>
          <a:lstStyle/>
          <a:p>
            <a:r>
              <a:rPr lang="en-US"/>
              <a:t>CGB1221-DATABASE MANAGEMENT SYSTEMS  PROJECT REVIEW 0</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2919130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5DA4FA-751D-4FDB-8E40-E1C3747B2E73}" type="datetime1">
              <a:rPr lang="en-US" smtClean="0"/>
              <a:t>2/19/2026</a:t>
            </a:fld>
            <a:endParaRPr lang="en-US"/>
          </a:p>
        </p:txBody>
      </p:sp>
      <p:sp>
        <p:nvSpPr>
          <p:cNvPr id="5" name="Footer Placeholder 4"/>
          <p:cNvSpPr>
            <a:spLocks noGrp="1"/>
          </p:cNvSpPr>
          <p:nvPr>
            <p:ph type="ftr" sz="quarter" idx="11"/>
          </p:nvPr>
        </p:nvSpPr>
        <p:spPr/>
        <p:txBody>
          <a:bodyPr/>
          <a:lstStyle/>
          <a:p>
            <a:r>
              <a:rPr lang="en-US"/>
              <a:t>CGB1221-DATABASE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3254457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B9141D-8F75-49FA-9162-CAE658FBEDD4}" type="datetime1">
              <a:rPr lang="en-US" smtClean="0"/>
              <a:t>2/19/2026</a:t>
            </a:fld>
            <a:endParaRPr lang="en-US"/>
          </a:p>
        </p:txBody>
      </p:sp>
      <p:sp>
        <p:nvSpPr>
          <p:cNvPr id="5" name="Footer Placeholder 4"/>
          <p:cNvSpPr>
            <a:spLocks noGrp="1"/>
          </p:cNvSpPr>
          <p:nvPr>
            <p:ph type="ftr" sz="quarter" idx="11"/>
          </p:nvPr>
        </p:nvSpPr>
        <p:spPr/>
        <p:txBody>
          <a:bodyPr/>
          <a:lstStyle/>
          <a:p>
            <a:r>
              <a:rPr lang="en-US"/>
              <a:t>CGB1221-DATABASE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extLst>
      <p:ext uri="{BB962C8B-B14F-4D97-AF65-F5344CB8AC3E}">
        <p14:creationId xmlns:p14="http://schemas.microsoft.com/office/powerpoint/2010/main" val="2464964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AEB456-6C18-483E-9D1D-E9F260739D3B}" type="datetime1">
              <a:rPr lang="en-US" smtClean="0"/>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CGB1221-DATABASE MANAGEMENT SYSTEMS  PROJECT REVIEW 0</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91149-F702-42CD-87F1-8E83746A2FC9}" type="slidenum">
              <a:rPr lang="en-US" smtClean="0"/>
              <a:t>‹#›</a:t>
            </a:fld>
            <a:endParaRPr lang="en-US"/>
          </a:p>
        </p:txBody>
      </p:sp>
    </p:spTree>
    <p:extLst>
      <p:ext uri="{BB962C8B-B14F-4D97-AF65-F5344CB8AC3E}">
        <p14:creationId xmlns:p14="http://schemas.microsoft.com/office/powerpoint/2010/main" val="4220709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EGB1221-DATABASE MANAGEMENT SYSTEMS </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PROJECT REVIEW-0</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lstStyle/>
          <a:p>
            <a:pPr lvl="0">
              <a:spcBef>
                <a:spcPts val="0"/>
              </a:spcBef>
              <a:buClr>
                <a:srgbClr val="000000"/>
              </a:buClr>
              <a:buSzPts val="2500"/>
            </a:pPr>
            <a:r>
              <a:rPr lang="en-US" sz="2800" b="1" i="0" u="none" strike="noStrike" cap="none" dirty="0">
                <a:solidFill>
                  <a:schemeClr val="dk1"/>
                </a:solidFill>
                <a:latin typeface="Times New Roman" pitchFamily="18" charset="0"/>
                <a:ea typeface="Times New Roman"/>
                <a:cs typeface="Times New Roman" pitchFamily="18" charset="0"/>
                <a:sym typeface="Times New Roman"/>
              </a:rPr>
              <a:t>DEPARTMENT OF  ECE</a:t>
            </a:r>
            <a:endParaRPr lang="en-US" sz="1400" b="0" i="0" u="none" strike="noStrike" cap="none" dirty="0">
              <a:solidFill>
                <a:srgbClr val="000000"/>
              </a:solidFill>
              <a:latin typeface="Times New Roman" pitchFamily="18" charset="0"/>
              <a:ea typeface="Arial"/>
              <a:cs typeface="Times New Roman" pitchFamily="18" charset="0"/>
              <a:sym typeface="Arial"/>
            </a:endParaRPr>
          </a:p>
          <a:p>
            <a:pPr lvl="0">
              <a:spcBef>
                <a:spcPts val="0"/>
              </a:spcBef>
              <a:buClr>
                <a:srgbClr val="000000"/>
              </a:buClr>
              <a:buSzPts val="2500"/>
            </a:pPr>
            <a:r>
              <a:rPr lang="en-US" sz="2800" b="1" i="0" u="none" strike="noStrike" cap="none" dirty="0">
                <a:solidFill>
                  <a:schemeClr val="dk1"/>
                </a:solidFill>
                <a:latin typeface="Times New Roman" pitchFamily="18" charset="0"/>
                <a:ea typeface="Times New Roman"/>
                <a:cs typeface="Times New Roman" pitchFamily="18" charset="0"/>
                <a:sym typeface="Times New Roman"/>
              </a:rPr>
              <a:t>Academic Year: 2025 – 2026 (Even Semester)</a:t>
            </a:r>
            <a:endParaRPr lang="en-US" sz="1400" b="0" i="0" u="none" strike="noStrike" cap="none" dirty="0">
              <a:solidFill>
                <a:srgbClr val="000000"/>
              </a:solidFill>
              <a:latin typeface="Times New Roman" pitchFamily="18" charset="0"/>
              <a:ea typeface="Arial"/>
              <a:cs typeface="Times New Roman" pitchFamily="18" charset="0"/>
              <a:sym typeface="Arial"/>
            </a:endParaRPr>
          </a:p>
          <a:p>
            <a:pPr lvl="0" algn="l">
              <a:spcBef>
                <a:spcPts val="0"/>
              </a:spcBef>
              <a:buClr>
                <a:srgbClr val="000000"/>
              </a:buClr>
              <a:buSzPts val="2500"/>
            </a:pPr>
            <a:endParaRPr lang="en-US" b="1" dirty="0">
              <a:solidFill>
                <a:schemeClr val="dk1"/>
              </a:solidFill>
              <a:latin typeface="Times New Roman" pitchFamily="18" charset="0"/>
              <a:ea typeface="Times New Roman"/>
              <a:cs typeface="Times New Roman" pitchFamily="18" charset="0"/>
              <a:sym typeface="Times New Roman"/>
            </a:endParaRPr>
          </a:p>
          <a:p>
            <a:pPr lvl="0" algn="l">
              <a:lnSpc>
                <a:spcPct val="150000"/>
              </a:lnSpc>
              <a:spcBef>
                <a:spcPts val="0"/>
              </a:spcBef>
              <a:buClr>
                <a:srgbClr val="000000"/>
              </a:buClr>
              <a:buSzPts val="2500"/>
            </a:pPr>
            <a:r>
              <a:rPr lang="en-US" sz="2400" b="1" i="0" u="none" strike="noStrike" cap="none" dirty="0">
                <a:solidFill>
                  <a:schemeClr val="dk1"/>
                </a:solidFill>
                <a:latin typeface="Times New Roman" pitchFamily="18" charset="0"/>
                <a:ea typeface="Times New Roman"/>
                <a:cs typeface="Times New Roman" pitchFamily="18" charset="0"/>
                <a:sym typeface="Times New Roman"/>
              </a:rPr>
              <a:t>Batch 			:2024-2028</a:t>
            </a:r>
          </a:p>
          <a:p>
            <a:pPr lvl="0" algn="l">
              <a:lnSpc>
                <a:spcPct val="150000"/>
              </a:lnSpc>
              <a:spcBef>
                <a:spcPts val="0"/>
              </a:spcBef>
              <a:buClr>
                <a:srgbClr val="000000"/>
              </a:buClr>
              <a:buSzPts val="2500"/>
            </a:pPr>
            <a:r>
              <a:rPr lang="en-US" sz="2400" b="1" i="0" u="none" strike="noStrike" cap="none" dirty="0">
                <a:solidFill>
                  <a:schemeClr val="dk1"/>
                </a:solidFill>
                <a:latin typeface="Times New Roman" pitchFamily="18" charset="0"/>
                <a:ea typeface="Times New Roman"/>
                <a:cs typeface="Times New Roman" pitchFamily="18" charset="0"/>
                <a:sym typeface="Times New Roman"/>
              </a:rPr>
              <a:t>Year			: II</a:t>
            </a:r>
          </a:p>
          <a:p>
            <a:pPr lvl="0" algn="l">
              <a:lnSpc>
                <a:spcPct val="150000"/>
              </a:lnSpc>
              <a:spcBef>
                <a:spcPts val="0"/>
              </a:spcBef>
              <a:buClr>
                <a:srgbClr val="000000"/>
              </a:buClr>
              <a:buSzPts val="2500"/>
            </a:pPr>
            <a:r>
              <a:rPr lang="en-US" sz="2400" b="1" dirty="0">
                <a:solidFill>
                  <a:schemeClr val="dk1"/>
                </a:solidFill>
                <a:latin typeface="Times New Roman" pitchFamily="18" charset="0"/>
                <a:ea typeface="Times New Roman"/>
                <a:cs typeface="Times New Roman" pitchFamily="18" charset="0"/>
                <a:sym typeface="Times New Roman"/>
              </a:rPr>
              <a:t>Semester		: IV</a:t>
            </a:r>
          </a:p>
          <a:p>
            <a:pPr lvl="0" algn="l">
              <a:lnSpc>
                <a:spcPct val="150000"/>
              </a:lnSpc>
              <a:spcBef>
                <a:spcPts val="0"/>
              </a:spcBef>
              <a:buClr>
                <a:srgbClr val="000000"/>
              </a:buClr>
              <a:buSzPts val="2500"/>
            </a:pPr>
            <a:r>
              <a:rPr lang="en-US" sz="2400" b="1" dirty="0">
                <a:solidFill>
                  <a:schemeClr val="dk1"/>
                </a:solidFill>
                <a:latin typeface="Times New Roman" pitchFamily="18" charset="0"/>
                <a:ea typeface="Times New Roman"/>
                <a:cs typeface="Times New Roman" pitchFamily="18" charset="0"/>
                <a:sym typeface="Times New Roman"/>
              </a:rPr>
              <a:t>Date			: 12.02.2026</a:t>
            </a:r>
          </a:p>
          <a:p>
            <a:pPr lvl="0" algn="l">
              <a:spcBef>
                <a:spcPts val="0"/>
              </a:spcBef>
              <a:buClr>
                <a:srgbClr val="000000"/>
              </a:buClr>
              <a:buSzPts val="2500"/>
            </a:pPr>
            <a:endParaRPr lang="en-US" sz="1600" b="0" i="0" u="none" strike="noStrike" cap="none" dirty="0">
              <a:solidFill>
                <a:srgbClr val="000000"/>
              </a:solidFill>
              <a:latin typeface="Times New Roman" pitchFamily="18" charset="0"/>
              <a:ea typeface="Arial"/>
              <a:cs typeface="Times New Roman" pitchFamily="18" charset="0"/>
              <a:sym typeface="Arial"/>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1</a:t>
            </a:fld>
            <a:endParaRPr lang="en-US" dirty="0"/>
          </a:p>
        </p:txBody>
      </p:sp>
    </p:spTree>
    <p:extLst>
      <p:ext uri="{BB962C8B-B14F-4D97-AF65-F5344CB8AC3E}">
        <p14:creationId xmlns:p14="http://schemas.microsoft.com/office/powerpoint/2010/main" val="2492793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EGB1221-DATABASE MANAGEMENT SYSTEMS </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PROJECT REVIEW-0</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pPr lvl="0">
              <a:spcBef>
                <a:spcPts val="0"/>
              </a:spcBef>
              <a:buClr>
                <a:srgbClr val="000000"/>
              </a:buClr>
              <a:buSzPts val="2500"/>
            </a:pPr>
            <a:r>
              <a:rPr lang="en-US" sz="2800" b="1" i="0" u="none" strike="noStrike" cap="none" dirty="0">
                <a:solidFill>
                  <a:schemeClr val="dk1"/>
                </a:solidFill>
                <a:latin typeface="Times New Roman" pitchFamily="18" charset="0"/>
                <a:ea typeface="Times New Roman"/>
                <a:cs typeface="Times New Roman" pitchFamily="18" charset="0"/>
                <a:sym typeface="Times New Roman"/>
              </a:rPr>
              <a:t>DEPARTMENT OF  ECE</a:t>
            </a:r>
            <a:endParaRPr lang="en-US" sz="1400" b="0" i="0" u="none" strike="noStrike" cap="none" dirty="0">
              <a:solidFill>
                <a:srgbClr val="000000"/>
              </a:solidFill>
              <a:latin typeface="Times New Roman" pitchFamily="18" charset="0"/>
              <a:ea typeface="Arial"/>
              <a:cs typeface="Times New Roman" pitchFamily="18" charset="0"/>
              <a:sym typeface="Arial"/>
            </a:endParaRPr>
          </a:p>
          <a:p>
            <a:pPr lvl="0">
              <a:spcBef>
                <a:spcPts val="0"/>
              </a:spcBef>
              <a:buClr>
                <a:srgbClr val="000000"/>
              </a:buClr>
              <a:buSzPts val="2500"/>
            </a:pPr>
            <a:r>
              <a:rPr lang="en-US" sz="2400" b="1" i="0" u="none" strike="noStrike" cap="none" dirty="0">
                <a:solidFill>
                  <a:schemeClr val="dk1"/>
                </a:solidFill>
                <a:latin typeface="Times New Roman" pitchFamily="18" charset="0"/>
                <a:ea typeface="Times New Roman"/>
                <a:cs typeface="Times New Roman" pitchFamily="18" charset="0"/>
                <a:sym typeface="Times New Roman"/>
              </a:rPr>
              <a:t>Academic Year: 2025 – 2026 (Even Semester)</a:t>
            </a:r>
            <a:endParaRPr lang="en-US" sz="1200" b="0" i="0" u="none" strike="noStrike" cap="none" dirty="0">
              <a:solidFill>
                <a:srgbClr val="000000"/>
              </a:solidFill>
              <a:latin typeface="Times New Roman" pitchFamily="18" charset="0"/>
              <a:ea typeface="Arial"/>
              <a:cs typeface="Times New Roman" pitchFamily="18" charset="0"/>
              <a:sym typeface="Arial"/>
            </a:endParaRPr>
          </a:p>
          <a:p>
            <a:pPr lvl="0" algn="l">
              <a:spcBef>
                <a:spcPts val="0"/>
              </a:spcBef>
              <a:buClr>
                <a:srgbClr val="000000"/>
              </a:buClr>
              <a:buSzPts val="2500"/>
            </a:pPr>
            <a:endParaRPr lang="en-US" b="1" dirty="0">
              <a:solidFill>
                <a:schemeClr val="dk1"/>
              </a:solidFill>
              <a:latin typeface="Times New Roman" pitchFamily="18" charset="0"/>
              <a:ea typeface="Times New Roman"/>
              <a:cs typeface="Times New Roman" pitchFamily="18" charset="0"/>
              <a:sym typeface="Times New Roman"/>
            </a:endParaRPr>
          </a:p>
          <a:p>
            <a:pPr lvl="0" algn="l">
              <a:lnSpc>
                <a:spcPct val="150000"/>
              </a:lnSpc>
              <a:spcBef>
                <a:spcPts val="0"/>
              </a:spcBef>
              <a:buClr>
                <a:srgbClr val="000000"/>
              </a:buClr>
              <a:buSzPts val="2500"/>
            </a:pPr>
            <a:r>
              <a:rPr lang="en-US" sz="1700" b="1" i="0" u="none" strike="noStrike" cap="none" dirty="0">
                <a:solidFill>
                  <a:schemeClr val="dk1"/>
                </a:solidFill>
                <a:latin typeface="Times New Roman" pitchFamily="18" charset="0"/>
                <a:ea typeface="Times New Roman"/>
                <a:cs typeface="Times New Roman" pitchFamily="18" charset="0"/>
                <a:sym typeface="Times New Roman"/>
              </a:rPr>
              <a:t>Batch No			:4</a:t>
            </a:r>
          </a:p>
          <a:p>
            <a:pPr lvl="0" algn="l">
              <a:lnSpc>
                <a:spcPct val="150000"/>
              </a:lnSpc>
              <a:spcBef>
                <a:spcPts val="0"/>
              </a:spcBef>
              <a:buClr>
                <a:srgbClr val="000000"/>
              </a:buClr>
              <a:buSzPts val="2500"/>
            </a:pPr>
            <a:r>
              <a:rPr lang="en-US" sz="1700" b="1" i="0" u="none" strike="noStrike" cap="none" dirty="0">
                <a:solidFill>
                  <a:schemeClr val="dk1"/>
                </a:solidFill>
                <a:latin typeface="Times New Roman" pitchFamily="18" charset="0"/>
                <a:ea typeface="Times New Roman"/>
                <a:cs typeface="Times New Roman" pitchFamily="18" charset="0"/>
                <a:sym typeface="Times New Roman"/>
              </a:rPr>
              <a:t>SIH_ID / Year		:</a:t>
            </a:r>
            <a:r>
              <a:rPr lang="en-IN" sz="1700" b="1" i="0" u="none" strike="noStrike" cap="none" dirty="0">
                <a:solidFill>
                  <a:schemeClr val="dk1"/>
                </a:solidFill>
                <a:latin typeface="Times New Roman" pitchFamily="18" charset="0"/>
                <a:ea typeface="Times New Roman"/>
                <a:cs typeface="Times New Roman" pitchFamily="18" charset="0"/>
                <a:sym typeface="Times New Roman"/>
              </a:rPr>
              <a:t>SIH25010</a:t>
            </a:r>
            <a:endParaRPr lang="en-US" sz="1700" b="1" i="0" u="none" strike="noStrike" cap="none" dirty="0">
              <a:solidFill>
                <a:schemeClr val="dk1"/>
              </a:solidFill>
              <a:latin typeface="Times New Roman" pitchFamily="18" charset="0"/>
              <a:ea typeface="Times New Roman"/>
              <a:cs typeface="Times New Roman" pitchFamily="18" charset="0"/>
              <a:sym typeface="Times New Roman"/>
            </a:endParaRPr>
          </a:p>
          <a:p>
            <a:pPr lvl="0" algn="l">
              <a:lnSpc>
                <a:spcPct val="150000"/>
              </a:lnSpc>
              <a:spcBef>
                <a:spcPts val="0"/>
              </a:spcBef>
              <a:buClr>
                <a:srgbClr val="000000"/>
              </a:buClr>
              <a:buSzPts val="2500"/>
            </a:pPr>
            <a:r>
              <a:rPr lang="en-US" sz="1700" b="1" dirty="0">
                <a:solidFill>
                  <a:schemeClr val="dk1"/>
                </a:solidFill>
                <a:latin typeface="Times New Roman" pitchFamily="18" charset="0"/>
                <a:ea typeface="Times New Roman"/>
                <a:cs typeface="Times New Roman" pitchFamily="18" charset="0"/>
                <a:sym typeface="Times New Roman"/>
              </a:rPr>
              <a:t>Team Members		: PON SANMUGA VISHAL G(927624BEC154)</a:t>
            </a:r>
          </a:p>
          <a:p>
            <a:pPr lvl="0" algn="l">
              <a:lnSpc>
                <a:spcPct val="150000"/>
              </a:lnSpc>
              <a:spcBef>
                <a:spcPts val="0"/>
              </a:spcBef>
              <a:buClr>
                <a:srgbClr val="000000"/>
              </a:buClr>
              <a:buSzPts val="2500"/>
            </a:pPr>
            <a:r>
              <a:rPr lang="en-US" sz="1700" b="1" dirty="0">
                <a:solidFill>
                  <a:schemeClr val="dk1"/>
                </a:solidFill>
                <a:latin typeface="Times New Roman" pitchFamily="18" charset="0"/>
                <a:ea typeface="Times New Roman"/>
                <a:cs typeface="Times New Roman" pitchFamily="18" charset="0"/>
                <a:sym typeface="Times New Roman"/>
              </a:rPr>
              <a:t>			: NIVASH S(927624BEC153) </a:t>
            </a:r>
          </a:p>
          <a:p>
            <a:pPr lvl="0" algn="l">
              <a:lnSpc>
                <a:spcPct val="150000"/>
              </a:lnSpc>
              <a:spcBef>
                <a:spcPts val="0"/>
              </a:spcBef>
              <a:buClr>
                <a:srgbClr val="000000"/>
              </a:buClr>
              <a:buSzPts val="2500"/>
            </a:pPr>
            <a:r>
              <a:rPr lang="en-US" sz="1700" b="1" dirty="0">
                <a:solidFill>
                  <a:schemeClr val="dk1"/>
                </a:solidFill>
                <a:latin typeface="Times New Roman" pitchFamily="18" charset="0"/>
                <a:ea typeface="Times New Roman"/>
                <a:cs typeface="Times New Roman" pitchFamily="18" charset="0"/>
                <a:sym typeface="Times New Roman"/>
              </a:rPr>
              <a:t>			: SANTHOSH R(927624BEC198) </a:t>
            </a:r>
          </a:p>
          <a:p>
            <a:pPr lvl="0" algn="l">
              <a:lnSpc>
                <a:spcPct val="150000"/>
              </a:lnSpc>
              <a:spcBef>
                <a:spcPts val="0"/>
              </a:spcBef>
              <a:buClr>
                <a:srgbClr val="000000"/>
              </a:buClr>
              <a:buSzPts val="2500"/>
            </a:pPr>
            <a:r>
              <a:rPr lang="en-US" sz="1700" b="1" dirty="0">
                <a:solidFill>
                  <a:schemeClr val="dk1"/>
                </a:solidFill>
                <a:latin typeface="Times New Roman" pitchFamily="18" charset="0"/>
                <a:ea typeface="Times New Roman"/>
                <a:cs typeface="Times New Roman" pitchFamily="18" charset="0"/>
                <a:sym typeface="Times New Roman"/>
              </a:rPr>
              <a:t>			: SHARVESH J(927624BEC206) 	</a:t>
            </a:r>
            <a:r>
              <a:rPr lang="en-US" sz="2200" b="1" dirty="0">
                <a:solidFill>
                  <a:schemeClr val="dk1"/>
                </a:solidFill>
                <a:latin typeface="Times New Roman" pitchFamily="18" charset="0"/>
                <a:ea typeface="Times New Roman"/>
                <a:cs typeface="Times New Roman" pitchFamily="18" charset="0"/>
                <a:sym typeface="Times New Roman"/>
              </a:rPr>
              <a:t>			</a:t>
            </a:r>
          </a:p>
          <a:p>
            <a:pPr lvl="0" algn="l">
              <a:spcBef>
                <a:spcPts val="0"/>
              </a:spcBef>
              <a:buClr>
                <a:srgbClr val="000000"/>
              </a:buClr>
              <a:buSzPts val="2500"/>
            </a:pPr>
            <a:endParaRPr lang="en-US" sz="1600" b="0" i="0" u="none" strike="noStrike" cap="none" dirty="0">
              <a:solidFill>
                <a:srgbClr val="000000"/>
              </a:solidFill>
              <a:latin typeface="Times New Roman" pitchFamily="18" charset="0"/>
              <a:ea typeface="Arial"/>
              <a:cs typeface="Times New Roman" pitchFamily="18" charset="0"/>
              <a:sym typeface="Arial"/>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2</a:t>
            </a:fld>
            <a:endParaRPr lang="en-US" dirty="0"/>
          </a:p>
        </p:txBody>
      </p:sp>
    </p:spTree>
    <p:extLst>
      <p:ext uri="{BB962C8B-B14F-4D97-AF65-F5344CB8AC3E}">
        <p14:creationId xmlns:p14="http://schemas.microsoft.com/office/powerpoint/2010/main" val="270721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solidFill>
                  <a:schemeClr val="dk1"/>
                </a:solidFill>
                <a:latin typeface="Times New Roman"/>
                <a:ea typeface="Times New Roman"/>
                <a:cs typeface="Times New Roman"/>
                <a:sym typeface="Times New Roman"/>
              </a:rPr>
              <a:t>Title of the Project</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a:solidFill>
                  <a:schemeClr val="tx1"/>
                </a:solidFill>
                <a:latin typeface="Times New Roman" panose="02020603050405020304" pitchFamily="18" charset="0"/>
                <a:cs typeface="Times New Roman" panose="02020603050405020304" pitchFamily="18" charset="0"/>
              </a:rPr>
              <a:t>Smart Crop Advisory System for Small and Marginal Farmers</a:t>
            </a: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3</a:t>
            </a:fld>
            <a:endParaRPr lang="en-US"/>
          </a:p>
        </p:txBody>
      </p:sp>
    </p:spTree>
    <p:extLst>
      <p:ext uri="{BB962C8B-B14F-4D97-AF65-F5344CB8AC3E}">
        <p14:creationId xmlns:p14="http://schemas.microsoft.com/office/powerpoint/2010/main" val="219067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solidFill>
                  <a:schemeClr val="dk1"/>
                </a:solidFill>
                <a:latin typeface="Times New Roman"/>
                <a:ea typeface="Times New Roman"/>
                <a:cs typeface="Times New Roman"/>
                <a:sym typeface="Times New Roman"/>
              </a:rPr>
              <a:t>Problem Statement</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A majority of small and marginal farmers in India rely on traditional knowledge, local shopkeepers, or guesswork for crop selection, pest control, and fertilizer use. They lack access to personalized, real-time advisory services that account for soil type, weather conditions, and crop history.</a:t>
            </a:r>
            <a:br>
              <a:rPr lang="en-US" sz="1600" dirty="0">
                <a:solidFill>
                  <a:schemeClr val="tx1"/>
                </a:solidFill>
                <a:latin typeface="Times New Roman" panose="02020603050405020304" pitchFamily="18" charset="0"/>
                <a:cs typeface="Times New Roman" panose="02020603050405020304" pitchFamily="18" charset="0"/>
              </a:rPr>
            </a:b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This often leads to poor yield, excessive input costs, and environmental degradation due to overuse of chemicals. Language barriers, low digital literacy, and absence of localized tools further limit their access to modern </a:t>
            </a:r>
            <a:r>
              <a:rPr lang="en-US" sz="1600" dirty="0" err="1">
                <a:solidFill>
                  <a:schemeClr val="tx1"/>
                </a:solidFill>
                <a:latin typeface="Times New Roman" panose="02020603050405020304" pitchFamily="18" charset="0"/>
                <a:cs typeface="Times New Roman" panose="02020603050405020304" pitchFamily="18" charset="0"/>
              </a:rPr>
              <a:t>agri</a:t>
            </a:r>
            <a:r>
              <a:rPr lang="en-US" sz="1600" dirty="0">
                <a:solidFill>
                  <a:schemeClr val="tx1"/>
                </a:solidFill>
                <a:latin typeface="Times New Roman" panose="02020603050405020304" pitchFamily="18" charset="0"/>
                <a:cs typeface="Times New Roman" panose="02020603050405020304" pitchFamily="18" charset="0"/>
              </a:rPr>
              <a:t>-tech resource Why the problem is important?</a:t>
            </a:r>
          </a:p>
          <a:p>
            <a:pPr algn="l"/>
            <a:endParaRPr lang="en-US" dirty="0">
              <a:solidFill>
                <a:schemeClr val="tx1"/>
              </a:solidFill>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4</a:t>
            </a:fld>
            <a:endParaRPr lang="en-US"/>
          </a:p>
        </p:txBody>
      </p:sp>
    </p:spTree>
    <p:extLst>
      <p:ext uri="{BB962C8B-B14F-4D97-AF65-F5344CB8AC3E}">
        <p14:creationId xmlns:p14="http://schemas.microsoft.com/office/powerpoint/2010/main" val="276856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br>
              <a:rPr lang="en-US" sz="3200" b="1" dirty="0">
                <a:latin typeface="Times New Roman" pitchFamily="18" charset="0"/>
                <a:cs typeface="Times New Roman" pitchFamily="18" charset="0"/>
              </a:rPr>
            </a:br>
            <a:r>
              <a:rPr lang="en-US" sz="3200" b="1" dirty="0">
                <a:latin typeface="Times New Roman" pitchFamily="18" charset="0"/>
                <a:cs typeface="Times New Roman" pitchFamily="18" charset="0"/>
              </a:rPr>
              <a:t>Project Objectives</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pPr algn="l"/>
            <a:r>
              <a:rPr lang="en-US" sz="1600" b="1" dirty="0">
                <a:solidFill>
                  <a:schemeClr val="tx1"/>
                </a:solidFill>
                <a:latin typeface="Times New Roman" panose="02020603050405020304" pitchFamily="18" charset="0"/>
                <a:cs typeface="Times New Roman" panose="02020603050405020304" pitchFamily="18" charset="0"/>
              </a:rPr>
              <a:t>Aim:</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To build a smart farming system using ESP32 sensors, a database, and a web platform to provide real-time, personalized agricultural advice based on soil and environmental data.</a:t>
            </a:r>
          </a:p>
          <a:p>
            <a:endParaRPr lang="en-US" sz="1600" b="1" dirty="0">
              <a:solidFill>
                <a:schemeClr val="tx1"/>
              </a:solidFill>
              <a:latin typeface="Times New Roman" panose="02020603050405020304" pitchFamily="18" charset="0"/>
              <a:cs typeface="Times New Roman" panose="02020603050405020304" pitchFamily="18" charset="0"/>
            </a:endParaRPr>
          </a:p>
          <a:p>
            <a:endParaRPr lang="en-US" sz="1600" b="1" dirty="0">
              <a:solidFill>
                <a:schemeClr val="tx1"/>
              </a:solidFill>
              <a:latin typeface="Times New Roman" panose="02020603050405020304" pitchFamily="18" charset="0"/>
              <a:cs typeface="Times New Roman" panose="02020603050405020304" pitchFamily="18" charset="0"/>
            </a:endParaRPr>
          </a:p>
          <a:p>
            <a:pPr algn="l"/>
            <a:r>
              <a:rPr lang="en-US" sz="1600" b="1" dirty="0">
                <a:solidFill>
                  <a:schemeClr val="tx1"/>
                </a:solidFill>
                <a:latin typeface="Times New Roman" panose="02020603050405020304" pitchFamily="18" charset="0"/>
                <a:cs typeface="Times New Roman" panose="02020603050405020304" pitchFamily="18" charset="0"/>
              </a:rPr>
              <a:t>Expected Outcome:</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The system will deliver accurate crop, fertilizer, and irrigation recommendations, improving yield, reducing costs, and promoting sustainable farming practices.</a:t>
            </a:r>
          </a:p>
          <a:p>
            <a:pPr algn="l"/>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6" name="Slide Number Placeholder 5"/>
          <p:cNvSpPr>
            <a:spLocks noGrp="1"/>
          </p:cNvSpPr>
          <p:nvPr>
            <p:ph type="sldNum" sz="quarter" idx="12"/>
          </p:nvPr>
        </p:nvSpPr>
        <p:spPr/>
        <p:txBody>
          <a:bodyPr/>
          <a:lstStyle/>
          <a:p>
            <a:fld id="{66391149-F702-42CD-87F1-8E83746A2FC9}" type="slidenum">
              <a:rPr lang="en-US" smtClean="0"/>
              <a:t>5</a:t>
            </a:fld>
            <a:endParaRPr lang="en-US"/>
          </a:p>
        </p:txBody>
      </p:sp>
    </p:spTree>
    <p:extLst>
      <p:ext uri="{BB962C8B-B14F-4D97-AF65-F5344CB8AC3E}">
        <p14:creationId xmlns:p14="http://schemas.microsoft.com/office/powerpoint/2010/main" val="675703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itchFamily="18" charset="0"/>
                <a:cs typeface="Times New Roman" pitchFamily="18" charset="0"/>
              </a:rPr>
              <a:t>DBMS Concepts Involved</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pPr algn="just"/>
            <a:r>
              <a:rPr lang="en-US" sz="1600" dirty="0">
                <a:solidFill>
                  <a:schemeClr val="tx1"/>
                </a:solidFill>
                <a:latin typeface="Times New Roman" panose="02020603050405020304" pitchFamily="18" charset="0"/>
                <a:cs typeface="Times New Roman" panose="02020603050405020304" pitchFamily="18" charset="0"/>
              </a:rPr>
              <a:t>The system uses the ER model and relational model to structure data into tables like Farmer, Field, and </a:t>
            </a:r>
            <a:r>
              <a:rPr lang="en-US" sz="1600" dirty="0" err="1">
                <a:solidFill>
                  <a:schemeClr val="tx1"/>
                </a:solidFill>
                <a:latin typeface="Times New Roman" panose="02020603050405020304" pitchFamily="18" charset="0"/>
                <a:cs typeface="Times New Roman" panose="02020603050405020304" pitchFamily="18" charset="0"/>
              </a:rPr>
              <a:t>SensorData</a:t>
            </a:r>
            <a:r>
              <a:rPr lang="en-US" sz="1600" dirty="0">
                <a:solidFill>
                  <a:schemeClr val="tx1"/>
                </a:solidFill>
                <a:latin typeface="Times New Roman" panose="02020603050405020304" pitchFamily="18" charset="0"/>
                <a:cs typeface="Times New Roman" panose="02020603050405020304" pitchFamily="18" charset="0"/>
              </a:rPr>
              <a:t>. Primary and foreign keys maintain relationships, while normalization reduces redundancy. CRUD operations manage data, constraints ensure integrity, indexing speeds retrieval, and ACID transactions guarantee reliable storage.</a:t>
            </a: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7" name="Slide Number Placeholder 6"/>
          <p:cNvSpPr>
            <a:spLocks noGrp="1"/>
          </p:cNvSpPr>
          <p:nvPr>
            <p:ph type="sldNum" sz="quarter" idx="12"/>
          </p:nvPr>
        </p:nvSpPr>
        <p:spPr/>
        <p:txBody>
          <a:bodyPr/>
          <a:lstStyle/>
          <a:p>
            <a:fld id="{66391149-F702-42CD-87F1-8E83746A2FC9}" type="slidenum">
              <a:rPr lang="en-US" smtClean="0"/>
              <a:t>6</a:t>
            </a:fld>
            <a:endParaRPr lang="en-US"/>
          </a:p>
        </p:txBody>
      </p:sp>
    </p:spTree>
    <p:extLst>
      <p:ext uri="{BB962C8B-B14F-4D97-AF65-F5344CB8AC3E}">
        <p14:creationId xmlns:p14="http://schemas.microsoft.com/office/powerpoint/2010/main" val="4286761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itchFamily="18" charset="0"/>
                <a:cs typeface="Times New Roman" pitchFamily="18" charset="0"/>
              </a:rPr>
              <a:t>Technology Identification</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pPr algn="l"/>
            <a:r>
              <a:rPr lang="en-US" sz="1600" b="1" dirty="0">
                <a:solidFill>
                  <a:schemeClr val="tx1"/>
                </a:solidFill>
                <a:latin typeface="Times New Roman" pitchFamily="18" charset="0"/>
                <a:cs typeface="Times New Roman" pitchFamily="18" charset="0"/>
              </a:rPr>
              <a:t>HARDWARE COMPONENTS:</a:t>
            </a:r>
          </a:p>
          <a:p>
            <a:pPr marL="2000250" lvl="4" indent="-171450" algn="l">
              <a:buFont typeface="Arial" panose="020B0604020202020204" pitchFamily="34" charset="0"/>
              <a:buChar char="•"/>
            </a:pPr>
            <a:r>
              <a:rPr lang="en-IN" sz="1600" dirty="0">
                <a:solidFill>
                  <a:schemeClr val="tx1"/>
                </a:solidFill>
              </a:rPr>
              <a:t>ESP32.</a:t>
            </a:r>
          </a:p>
          <a:p>
            <a:pPr marL="2000250" lvl="4" indent="-1714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DTH22 Temperature and Humidity Sensor.</a:t>
            </a:r>
          </a:p>
          <a:p>
            <a:pPr marL="2000250" lvl="4" indent="-1714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Soil PH Sensor</a:t>
            </a:r>
          </a:p>
          <a:p>
            <a:pPr marL="2000250" lvl="4" indent="-1714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Soil Moisture Sensor</a:t>
            </a:r>
          </a:p>
          <a:p>
            <a:pPr marL="2000250" lvl="4" indent="-1714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NPK Soil Sensor</a:t>
            </a:r>
          </a:p>
          <a:p>
            <a:pPr marL="2000250" lvl="4" indent="-1714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Rain Sensor</a:t>
            </a:r>
          </a:p>
          <a:p>
            <a:pPr lvl="4" algn="l"/>
            <a:endParaRPr lang="en-US" sz="1600" dirty="0">
              <a:solidFill>
                <a:schemeClr val="tx1"/>
              </a:solidFill>
              <a:latin typeface="Times New Roman" pitchFamily="18" charset="0"/>
              <a:cs typeface="Times New Roman" pitchFamily="18" charset="0"/>
            </a:endParaRPr>
          </a:p>
          <a:p>
            <a:pPr algn="l"/>
            <a:r>
              <a:rPr lang="en-US" sz="1600" b="1" dirty="0">
                <a:solidFill>
                  <a:schemeClr val="tx1"/>
                </a:solidFill>
                <a:latin typeface="Times New Roman" pitchFamily="18" charset="0"/>
                <a:cs typeface="Times New Roman" pitchFamily="18" charset="0"/>
              </a:rPr>
              <a:t>SOFTWARE COMPONENTS:</a:t>
            </a:r>
          </a:p>
          <a:p>
            <a:pPr marL="2114550" lvl="4" indent="-2857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Arduino IDE</a:t>
            </a:r>
          </a:p>
          <a:p>
            <a:pPr marL="2114550" lvl="4" indent="-2857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Python</a:t>
            </a:r>
          </a:p>
          <a:p>
            <a:pPr marL="2114550" lvl="4" indent="-2857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MySQL</a:t>
            </a:r>
          </a:p>
          <a:p>
            <a:pPr marL="2114550" lvl="4" indent="-285750" algn="l">
              <a:buFont typeface="Arial" panose="020B0604020202020204" pitchFamily="34" charset="0"/>
              <a:buChar char="•"/>
            </a:pPr>
            <a:r>
              <a:rPr lang="en-US" sz="1600" dirty="0">
                <a:solidFill>
                  <a:schemeClr val="tx1"/>
                </a:solidFill>
                <a:latin typeface="Times New Roman" pitchFamily="18" charset="0"/>
                <a:cs typeface="Times New Roman" pitchFamily="18" charset="0"/>
              </a:rPr>
              <a:t>HTML ,CSS , Java Script</a:t>
            </a:r>
          </a:p>
          <a:p>
            <a:pPr algn="l"/>
            <a:endParaRPr lang="en-US" sz="1600" b="1" dirty="0">
              <a:solidFill>
                <a:schemeClr val="tx1"/>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7</a:t>
            </a:fld>
            <a:endParaRPr lang="en-US"/>
          </a:p>
        </p:txBody>
      </p:sp>
    </p:spTree>
    <p:extLst>
      <p:ext uri="{BB962C8B-B14F-4D97-AF65-F5344CB8AC3E}">
        <p14:creationId xmlns:p14="http://schemas.microsoft.com/office/powerpoint/2010/main" val="3643342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dirty="0">
                <a:latin typeface="Times New Roman" pitchFamily="18" charset="0"/>
                <a:cs typeface="Times New Roman" pitchFamily="18" charset="0"/>
              </a:rPr>
              <a:t>ER Diagram</a:t>
            </a: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8</a:t>
            </a:fld>
            <a:endParaRPr lang="en-US"/>
          </a:p>
        </p:txBody>
      </p:sp>
      <p:pic>
        <p:nvPicPr>
          <p:cNvPr id="6" name="Picture 5">
            <a:extLst>
              <a:ext uri="{FF2B5EF4-FFF2-40B4-BE49-F238E27FC236}">
                <a16:creationId xmlns:a16="http://schemas.microsoft.com/office/drawing/2014/main" id="{00D61FC6-D5BA-0871-F5A5-F25BA356B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966" y="1752600"/>
            <a:ext cx="7665834" cy="4267200"/>
          </a:xfrm>
          <a:prstGeom prst="rect">
            <a:avLst/>
          </a:prstGeom>
        </p:spPr>
      </p:pic>
    </p:spTree>
    <p:extLst>
      <p:ext uri="{BB962C8B-B14F-4D97-AF65-F5344CB8AC3E}">
        <p14:creationId xmlns:p14="http://schemas.microsoft.com/office/powerpoint/2010/main" val="2416855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800" b="1" dirty="0"/>
              <a:t>Thank You</a:t>
            </a:r>
            <a:endParaRPr lang="en-US" sz="3800" dirty="0"/>
          </a:p>
        </p:txBody>
      </p:sp>
      <p:sp>
        <p:nvSpPr>
          <p:cNvPr id="3" name="Subtitle 2"/>
          <p:cNvSpPr>
            <a:spLocks noGrp="1"/>
          </p:cNvSpPr>
          <p:nvPr>
            <p:ph type="subTitle" idx="1"/>
          </p:nvPr>
        </p:nvSpPr>
        <p:spPr>
          <a:xfrm>
            <a:off x="457200" y="1524000"/>
            <a:ext cx="7924800" cy="4648200"/>
          </a:xfrm>
        </p:spPr>
        <p:txBody>
          <a:bodyPr>
            <a:normAutofit/>
          </a:bodyPr>
          <a:lstStyle/>
          <a:p>
            <a:endParaRPr lang="en-US" dirty="0"/>
          </a:p>
          <a:p>
            <a:endParaRPr lang="en-US" dirty="0"/>
          </a:p>
          <a:p>
            <a:r>
              <a:rPr lang="en-US" b="1" dirty="0">
                <a:solidFill>
                  <a:schemeClr val="tx1"/>
                </a:solidFill>
                <a:latin typeface="Times New Roman" pitchFamily="18" charset="0"/>
                <a:cs typeface="Times New Roman" pitchFamily="18" charset="0"/>
              </a:rPr>
              <a:t>ANY QUERIES???</a:t>
            </a:r>
          </a:p>
        </p:txBody>
      </p:sp>
      <p:sp>
        <p:nvSpPr>
          <p:cNvPr id="4" name="Footer Placeholder 3"/>
          <p:cNvSpPr>
            <a:spLocks noGrp="1"/>
          </p:cNvSpPr>
          <p:nvPr>
            <p:ph type="ftr" sz="quarter" idx="11"/>
          </p:nvPr>
        </p:nvSpPr>
        <p:spPr>
          <a:xfrm>
            <a:off x="990600" y="6356350"/>
            <a:ext cx="7315200" cy="365125"/>
          </a:xfrm>
        </p:spPr>
        <p:txBody>
          <a:bodyPr/>
          <a:lstStyle/>
          <a:p>
            <a:r>
              <a:rPr lang="en-US" dirty="0"/>
              <a:t>EGB1221-DATABASE MANAGEMENT SYSTEMS  PROJECT REVIEW 0</a:t>
            </a:r>
          </a:p>
        </p:txBody>
      </p:sp>
      <p:sp>
        <p:nvSpPr>
          <p:cNvPr id="5" name="Slide Number Placeholder 4"/>
          <p:cNvSpPr>
            <a:spLocks noGrp="1"/>
          </p:cNvSpPr>
          <p:nvPr>
            <p:ph type="sldNum" sz="quarter" idx="12"/>
          </p:nvPr>
        </p:nvSpPr>
        <p:spPr/>
        <p:txBody>
          <a:bodyPr/>
          <a:lstStyle/>
          <a:p>
            <a:fld id="{66391149-F702-42CD-87F1-8E83746A2FC9}" type="slidenum">
              <a:rPr lang="en-US" smtClean="0"/>
              <a:t>9</a:t>
            </a:fld>
            <a:endParaRPr lang="en-US"/>
          </a:p>
        </p:txBody>
      </p:sp>
    </p:spTree>
    <p:extLst>
      <p:ext uri="{BB962C8B-B14F-4D97-AF65-F5344CB8AC3E}">
        <p14:creationId xmlns:p14="http://schemas.microsoft.com/office/powerpoint/2010/main" val="969989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171</TotalTime>
  <Words>469</Words>
  <Application>Microsoft Office PowerPoint</Application>
  <PresentationFormat>On-screen Show (4:3)</PresentationFormat>
  <Paragraphs>77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 EGB1221-DATABASE MANAGEMENT SYSTEMS  PROJECT REVIEW-0 </vt:lpstr>
      <vt:lpstr> EGB1221-DATABASE MANAGEMENT SYSTEMS  PROJECT REVIEW-0 </vt:lpstr>
      <vt:lpstr>Title of the Project</vt:lpstr>
      <vt:lpstr>Problem Statement</vt:lpstr>
      <vt:lpstr> Project Objectives </vt:lpstr>
      <vt:lpstr>DBMS Concepts Involved</vt:lpstr>
      <vt:lpstr>Technology Identification</vt:lpstr>
      <vt:lpstr>ER Diagram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CGB1221-DATABASE MANAGEMENT SYSTEMS  PROJECT REVIEW-0</dc:title>
  <dc:creator>DELL</dc:creator>
  <cp:lastModifiedBy>PON SANMUGA VISHAL G</cp:lastModifiedBy>
  <cp:revision>15</cp:revision>
  <dcterms:created xsi:type="dcterms:W3CDTF">2026-02-05T06:30:48Z</dcterms:created>
  <dcterms:modified xsi:type="dcterms:W3CDTF">2026-02-19T05:06:27Z</dcterms:modified>
</cp:coreProperties>
</file>